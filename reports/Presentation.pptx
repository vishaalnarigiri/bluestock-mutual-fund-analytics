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3A8A"/>
                </a:solidFill>
                <a:latin typeface="Arial"/>
              </a:defRPr>
            </a:pPr>
            <a:r>
              <a:t>MUTUAL FUND ANALYTICS PLATFORM</a:t>
            </a:r>
          </a:p>
          <a:p>
            <a:pPr>
              <a:spcBef>
                <a:spcPts val="10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End-to-End ETL, Performance Analytics &amp; Dashboard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Prepared For: Bluestock Fintech Pvt. Ltd.</a:t>
            </a:r>
            <a:br/>
            <a:r>
              <a:t>Project Type: Capstone Presentation</a:t>
            </a:r>
            <a:br/>
            <a:r>
              <a:t>Presented By: Intern / Data Analyst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The Industry Problem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Retail investors and advisory firms struggle due to several gaps: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Data Fragmentation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NAV, AUM, portfolio and inflows are split in static forms (TXT/PDF).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Performance Benchmarking Gaps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Hard to compare multi-AMC funds on a risk-adjusted basis.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Outperformance Blind Spot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Investors lack easy tracking of fund returns vs. benchmark indices.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Static Reports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Reliance on static spreadsheets that take days to compile manually.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Project Objectives &amp;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Goal: Build an institution-grade financial analytics pipeline.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Data Engineering Pipeline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Automate ingestion from APIs and structure a SQLite DB schema.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Quantitative Risk Metrics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Calculate CAGR, Sharpe, Sortino, Alpha, Beta, VaR, and CVaR.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Interactive Insights Dashboard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Streamlit multi-page web app with real-time slicing and filters.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Advanced Behavioral Analytics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Perform investor cohorts and predict transaction lapse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Platform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Classic ETL (Extract, Transform, Load) Pipeline: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Extract Layer (Ingestion)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Scrape mfapi.in API and merge with 10 provided AMFI datasets.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Transform Layer (Processing)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Standardize dates, handle holidays via forward-fill in Pandas.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Load Layer (SQLite DB)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Load cleaned datasets into an 8-table relational Star Schema.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Expose Layer (BI Dashboard)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Power the Streamlit Web Application with fast SQLite connections.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Data Ingestion &amp; Quality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Programmatic Inspection &amp; Verification of 10 CSVs: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Fund Master (40 schemes) &amp; NAV history (~64k rows) validated.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Cross-verification checked: All 40 AMFI codes successfully mapped.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Missing Values: Handled null values (e.g. yoy_growth_pct) in raw files.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Live Scrapers: Coded live_nav_fetch.py to request real-time historical NAV tables from API endpoints.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Data Cleaning &amp; Reindexing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Ensuring clean, analytical datasets: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Holiday &amp; Weekend NAV Gaps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Reindexed dates daily and forward-filled missing NAV rates.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Transaction Formatting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Standardized types (SIP, Lumpsum, Redemption) and KYC flags.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Constraint Validations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Verified positive transaction amounts and expense ratio ranges.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Database Execution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Populated dim_date lookup tables, computing daily return 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SQL Analytical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10 core business queries executing on our Star Schema database: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Top 5 Funds by AUM: Mirae Asset Emerging Bluechip leads at Rs. 49,046 Cr.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Monthly average NAV for SBI Bluechip computed over 53 months.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YoY SIP Inflows Growth calculated dynamically using SQL window LAG.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Investor transactions by payment mode and state volume summaries.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Low expense ratio direct funds (expense &lt; 1.0%) sorted.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Compliance volumes verified (KYC verified vs pending split).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EDA: NAV Trends &amp; Market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NAV Historical Movement: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Solid post-2023 rally seen across Large Cap schemes.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AMC AUM comparison: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SBI MF leads, followed by ICICI Pru and HDFC MF.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Category Heatmap: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Net inflows heavily concentrate in Liquid cash funds.</a:t>
            </a:r>
          </a:p>
        </p:txBody>
      </p:sp>
      <p:pic>
        <p:nvPicPr>
          <p:cNvPr id="4" name="Picture 3" descr="nav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4114800" cy="2377440"/>
          </a:xfrm>
          <a:prstGeom prst="rect">
            <a:avLst/>
          </a:prstGeom>
        </p:spPr>
      </p:pic>
      <p:pic>
        <p:nvPicPr>
          <p:cNvPr id="5" name="Picture 4" descr="aum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0"/>
            <a:ext cx="41148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EDA: Investor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Age Group Splits: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26-35 age bracket dominates active count (36%).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Geographic analysis: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Punjab, Tamil Nadu and Rajasthan have top SIP volumes.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Folio Expansion: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Total folios doubled from 13.26 Cr (2022) to 26.12 Cr (2025).</a:t>
            </a:r>
          </a:p>
        </p:txBody>
      </p:sp>
      <p:pic>
        <p:nvPicPr>
          <p:cNvPr id="4" name="Picture 3" descr="investor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4114800" cy="2377440"/>
          </a:xfrm>
          <a:prstGeom prst="rect">
            <a:avLst/>
          </a:prstGeom>
        </p:spPr>
      </p:pic>
      <p:pic>
        <p:nvPicPr>
          <p:cNvPr id="5" name="Picture 4" descr="geo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0"/>
            <a:ext cx="41148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Quantitative Fund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Key mathematical returns and risk indicators calculated: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CAGR Returns: Calculated for 1-year, 3-year, and 5-year periods.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Sharpe Ratio: Measures risk-adjusted excess returns over 6.5% Rf rate.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Sortino Ratio: Penalizes only downside volatility (negative returns).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Beta &amp; Alpha: Aligned index prices to regress fund performance.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Maximum Drawdowns: Traced worst-case peak-to-trough drop rates.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Scorecard: Weighted ranks to construct a composite score out of 100.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Advanced Analytics &amp; Risk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Value at Risk (VaR 95%) &amp; CVaR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Daily historical worst-case expected loss metrics for each fund.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HHI Sector Concentration Index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Quantifies portfolio concentration risk. Financial services average &gt; 25%.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SIP Churn Prediction Model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Flags investors with transaction gaps &gt; 35 days as 'at-risk'.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Risk Recommender Engine (recommender.py)</a:t>
            </a:r>
          </a:p>
          <a:p>
            <a:pPr lvl="1">
              <a:defRPr sz="1600">
                <a:solidFill>
                  <a:srgbClr val="0F172A"/>
                </a:solidFill>
                <a:latin typeface="Arial"/>
              </a:defRPr>
            </a:pPr>
            <a:r>
              <a:t>Programmatic lookup matching risk appetites to top Sharpe ratio funds.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Strategic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Actionable insights derived for Bluestock Fintech: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1. Deploy proactive reminder campaigns for flagged 'at-risk' SIP clients.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2. Establish direct-fund distribution outlets in B30 geographical tiers.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3. Highlight direct low-expense schemes to promote platform loyalty.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4. Embed the automated risk recommender engine into the client facing UI.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